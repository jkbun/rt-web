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32005A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206240"/>
            <a:ext cx="4572000" cy="4572000"/>
          </a:xfrm>
          <a:prstGeom prst="ellipse">
            <a:avLst/>
          </a:prstGeom>
          <a:solidFill>
            <a:srgbClr val="32005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1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ROTARY YOUTH ORGANIZATION  ·  DISTRICT 3220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Development of a Web-Based</a:t>
            </a:r>
            <a:endParaRPr lang="en-US" sz="3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 for Rotaract Club of NIBM Kandy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3703320"/>
            <a:ext cx="1828800" cy="41148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886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 in Software Engineering  ·  Final Project  ·  2025.2F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61772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8C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KADSE25.2F-030  —  H.E. Gunasekara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8C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KADSE25.2F-025  —  Y.V. Bandara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8C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KADSE25.2F-034  —  D.A. Kulasinghe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8C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KADSE25.2F-006  —  N.V.P. Karunaratne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035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Computing and Engineering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of Business Management, Kandy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Overview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Rotaract is a global, youth-led service organization sponsored by Rotary International, for young professionals and students aged 18+. Its mission is to build leadership and professional skills, serve community needs, and promote international friendship through service.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026664"/>
            <a:ext cx="109728" cy="109728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8986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546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club operations and liaises with the sponsoring Rotary Club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776472"/>
            <a:ext cx="109728" cy="109728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6484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Secretary &amp; Treasurer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9044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records, attendance, funds and financial statements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109728" cy="109728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3982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Avenue Directors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65429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manage specific service or professional projects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276088"/>
            <a:ext cx="109728" cy="109728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51480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Members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40410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Participate, volunteer, and uphold the Rotary Four-Way Test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01000" y="150876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4B0082"/>
          </a:solidFill>
          <a:ln w="12700">
            <a:solidFill>
              <a:srgbClr val="4B008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01000" y="1508760"/>
            <a:ext cx="2011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06840" y="1965960"/>
            <a:ext cx="0" cy="256032"/>
          </a:xfrm>
          <a:prstGeom prst="line">
            <a:avLst/>
          </a:prstGeom>
          <a:noFill/>
          <a:ln w="15875">
            <a:solidFill>
              <a:srgbClr val="4B00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01000" y="2221992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32005A"/>
          </a:solidFill>
          <a:ln w="12700">
            <a:solidFill>
              <a:srgbClr val="4B008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01000" y="2221992"/>
            <a:ext cx="20116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Vice President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06840" y="2660904"/>
            <a:ext cx="0" cy="237744"/>
          </a:xfrm>
          <a:prstGeom prst="line">
            <a:avLst/>
          </a:prstGeom>
          <a:noFill/>
          <a:ln w="15875">
            <a:solidFill>
              <a:srgbClr val="4B00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2898648"/>
            <a:ext cx="4114800" cy="0"/>
          </a:xfrm>
          <a:prstGeom prst="line">
            <a:avLst/>
          </a:prstGeom>
          <a:noFill/>
          <a:ln w="15875">
            <a:solidFill>
              <a:srgbClr val="4B00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69480" y="2898648"/>
            <a:ext cx="0" cy="182880"/>
          </a:xfrm>
          <a:prstGeom prst="line">
            <a:avLst/>
          </a:prstGeom>
          <a:noFill/>
          <a:ln w="15875">
            <a:solidFill>
              <a:srgbClr val="4B00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3081528"/>
            <a:ext cx="1600200" cy="457200"/>
          </a:xfrm>
          <a:prstGeom prst="roundRect">
            <a:avLst>
              <a:gd name="adj" fmla="val 16000"/>
            </a:avLst>
          </a:prstGeom>
          <a:solidFill>
            <a:srgbClr val="F5F3FF"/>
          </a:solidFill>
          <a:ln w="12700">
            <a:solidFill>
              <a:srgbClr val="4B008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3081528"/>
            <a:ext cx="1600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006840" y="2898648"/>
            <a:ext cx="0" cy="182880"/>
          </a:xfrm>
          <a:prstGeom prst="line">
            <a:avLst/>
          </a:prstGeom>
          <a:noFill/>
          <a:ln w="15875">
            <a:solidFill>
              <a:srgbClr val="4B00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8160" y="3081528"/>
            <a:ext cx="1600200" cy="457200"/>
          </a:xfrm>
          <a:prstGeom prst="roundRect">
            <a:avLst>
              <a:gd name="adj" fmla="val 16000"/>
            </a:avLst>
          </a:prstGeom>
          <a:solidFill>
            <a:srgbClr val="F5F3FF"/>
          </a:solidFill>
          <a:ln w="12700">
            <a:solidFill>
              <a:srgbClr val="4B008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38160" y="3081528"/>
            <a:ext cx="1600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744200" y="2898648"/>
            <a:ext cx="0" cy="182880"/>
          </a:xfrm>
          <a:prstGeom prst="line">
            <a:avLst/>
          </a:prstGeom>
          <a:noFill/>
          <a:ln w="15875">
            <a:solidFill>
              <a:srgbClr val="4B008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75520" y="3081528"/>
            <a:ext cx="1600200" cy="457200"/>
          </a:xfrm>
          <a:prstGeom prst="roundRect">
            <a:avLst>
              <a:gd name="adj" fmla="val 16000"/>
            </a:avLst>
          </a:prstGeom>
          <a:solidFill>
            <a:srgbClr val="F5F3FF"/>
          </a:solidFill>
          <a:ln w="12700">
            <a:solidFill>
              <a:srgbClr val="4B008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875520" y="3081528"/>
            <a:ext cx="1600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Sergeant-at-Arms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269480" y="3538728"/>
            <a:ext cx="0" cy="201168"/>
          </a:xfrm>
          <a:prstGeom prst="line">
            <a:avLst/>
          </a:prstGeom>
          <a:noFill/>
          <a:ln w="15875">
            <a:solidFill>
              <a:srgbClr val="4B008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37960" y="3739896"/>
            <a:ext cx="4937760" cy="0"/>
          </a:xfrm>
          <a:prstGeom prst="line">
            <a:avLst/>
          </a:prstGeom>
          <a:noFill/>
          <a:ln w="15875">
            <a:solidFill>
              <a:srgbClr val="4B008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09460" y="3739896"/>
            <a:ext cx="0" cy="182880"/>
          </a:xfrm>
          <a:prstGeom prst="line">
            <a:avLst/>
          </a:prstGeom>
          <a:noFill/>
          <a:ln w="15875">
            <a:solidFill>
              <a:srgbClr val="4B008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37960" y="3922776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4B008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37960" y="3922776"/>
            <a:ext cx="11430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343900" y="3739896"/>
            <a:ext cx="0" cy="182880"/>
          </a:xfrm>
          <a:prstGeom prst="line">
            <a:avLst/>
          </a:prstGeom>
          <a:noFill/>
          <a:ln w="15875">
            <a:solidFill>
              <a:srgbClr val="4B008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3922776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4B008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772400" y="3922776"/>
            <a:ext cx="11430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578340" y="3739896"/>
            <a:ext cx="0" cy="182880"/>
          </a:xfrm>
          <a:prstGeom prst="line">
            <a:avLst/>
          </a:prstGeom>
          <a:noFill/>
          <a:ln w="15875">
            <a:solidFill>
              <a:srgbClr val="4B008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06840" y="3922776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4B008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006840" y="3922776"/>
            <a:ext cx="11430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0812780" y="3739896"/>
            <a:ext cx="0" cy="182880"/>
          </a:xfrm>
          <a:prstGeom prst="line">
            <a:avLst/>
          </a:prstGeom>
          <a:noFill/>
          <a:ln w="15875">
            <a:solidFill>
              <a:srgbClr val="4B008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241280" y="3922776"/>
            <a:ext cx="1143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4B008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241280" y="3922776"/>
            <a:ext cx="11430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6400800" y="47091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governance hierarchy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548640" y="56235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Currently, the club runs on bi-weekly meetings, fundraising drives, and cross-club projects — coordinated largely through spreadsheets, generic forms and social media.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RT-Web · Rotaract Club of NIBM Kandy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PROBLEM DEFINITION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F5F3F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rgbClr val="4B0082"/>
          </a:solidFill>
          <a:ln/>
        </p:spPr>
      </p:sp>
      <p:pic>
        <p:nvPicPr>
          <p:cNvPr id="6" name="Image 0" descr="/home/claude/pptx_build/icons/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519" y="2093519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476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31343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onboarding, event registration and service-hour tracking are handled via isolated spreadsheets, Google Forms and social media.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35040" y="169164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F5F3FF"/>
          </a:solidFill>
          <a:ln/>
        </p:spPr>
      </p:sp>
      <p:sp>
        <p:nvSpPr>
          <p:cNvPr id="10" name="Shape 7"/>
          <p:cNvSpPr/>
          <p:nvPr/>
        </p:nvSpPr>
        <p:spPr>
          <a:xfrm>
            <a:off x="6309360" y="1965960"/>
            <a:ext cx="566928" cy="566928"/>
          </a:xfrm>
          <a:prstGeom prst="ellipse">
            <a:avLst/>
          </a:prstGeom>
          <a:solidFill>
            <a:srgbClr val="4B0082"/>
          </a:solidFill>
          <a:ln/>
        </p:spPr>
      </p:sp>
      <p:pic>
        <p:nvPicPr>
          <p:cNvPr id="11" name="Image 1" descr="/home/claude/pptx_build/icons/refre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919" y="2093519"/>
            <a:ext cx="311810" cy="31181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40880" y="19476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Redundancy &amp; Errors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7040880" y="231343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distributed approach creates duplication and increases the risk of tracking errors across records.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F5F3FF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160520"/>
            <a:ext cx="566928" cy="566928"/>
          </a:xfrm>
          <a:prstGeom prst="ellipse">
            <a:avLst/>
          </a:prstGeom>
          <a:solidFill>
            <a:srgbClr val="4B0082"/>
          </a:solidFill>
          <a:ln/>
        </p:spPr>
      </p:sp>
      <p:pic>
        <p:nvPicPr>
          <p:cNvPr id="16" name="Image 2" descr="/home/claude/pptx_build/icons/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519" y="4288079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1422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Historical Repository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50799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difficult to maintain an accurate, ongoing record of member contributions over time.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035040" y="388620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F5F3FF"/>
          </a:solidFill>
          <a:ln/>
        </p:spPr>
      </p:sp>
      <p:sp>
        <p:nvSpPr>
          <p:cNvPr id="20" name="Shape 15"/>
          <p:cNvSpPr/>
          <p:nvPr/>
        </p:nvSpPr>
        <p:spPr>
          <a:xfrm>
            <a:off x="6309360" y="4160520"/>
            <a:ext cx="566928" cy="566928"/>
          </a:xfrm>
          <a:prstGeom prst="ellipse">
            <a:avLst/>
          </a:prstGeom>
          <a:solidFill>
            <a:srgbClr val="4B0082"/>
          </a:solidFill>
          <a:ln/>
        </p:spPr>
      </p:sp>
      <p:pic>
        <p:nvPicPr>
          <p:cNvPr id="21" name="Image 3" descr="/home/claude/pptx_build/icons/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6919" y="4288079"/>
            <a:ext cx="311810" cy="31181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40880" y="41422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Institutional Knowledge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7040880" y="450799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leadership changes cause a critical loss of continuity with no centralized system to hand over.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heavy administrative overhead on the Executive Committee, and no single authoritative source of truth for the club.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RT-Web · Rotaract Club of NIBM Kandy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GOALS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engineer a secure, centralized, and user-friendly web-based management system tailored to the operational workflow of the Rotaract Club.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355848" cy="1965960"/>
          </a:xfrm>
          <a:prstGeom prst="roundRect">
            <a:avLst>
              <a:gd name="adj" fmla="val 4651"/>
            </a:avLst>
          </a:prstGeom>
          <a:solidFill>
            <a:srgbClr val="4B00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423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944368"/>
            <a:ext cx="2953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 relational database to securely store member profiles, event logs and project histories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60520" y="2286000"/>
            <a:ext cx="3355848" cy="1965960"/>
          </a:xfrm>
          <a:prstGeom prst="roundRect">
            <a:avLst>
              <a:gd name="adj" fmla="val 4651"/>
            </a:avLst>
          </a:prstGeom>
          <a:solidFill>
            <a:srgbClr val="32005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61688" y="2423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361688" y="2944368"/>
            <a:ext cx="2953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role-based admin dashboard for the Executive Committee to manage members, avenues, events and reports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0" y="2286000"/>
            <a:ext cx="3355848" cy="1965960"/>
          </a:xfrm>
          <a:prstGeom prst="roundRect">
            <a:avLst>
              <a:gd name="adj" fmla="val 4651"/>
            </a:avLst>
          </a:prstGeom>
          <a:solidFill>
            <a:srgbClr val="4B00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73568" y="2423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7973568" y="2944368"/>
            <a:ext cx="2953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personalized member portal for event registration, service-hour tracking and profile management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507992"/>
            <a:ext cx="3355848" cy="1965960"/>
          </a:xfrm>
          <a:prstGeom prst="roundRect">
            <a:avLst>
              <a:gd name="adj" fmla="val 4651"/>
            </a:avLst>
          </a:prstGeom>
          <a:solidFill>
            <a:srgbClr val="32005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46451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5166360"/>
            <a:ext cx="2953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real-time event registration with live seat quotas and digital check-in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60520" y="4507992"/>
            <a:ext cx="3355848" cy="1965960"/>
          </a:xfrm>
          <a:prstGeom prst="roundRect">
            <a:avLst>
              <a:gd name="adj" fmla="val 4651"/>
            </a:avLst>
          </a:prstGeom>
          <a:solidFill>
            <a:srgbClr val="4B00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361688" y="46451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4361688" y="5166360"/>
            <a:ext cx="2953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dynamic public-facing showcase to attract sponsors, partners and new recruits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0" y="4507992"/>
            <a:ext cx="3355848" cy="1965960"/>
          </a:xfrm>
          <a:prstGeom prst="roundRect">
            <a:avLst>
              <a:gd name="adj" fmla="val 4651"/>
            </a:avLst>
          </a:prstGeom>
          <a:solidFill>
            <a:srgbClr val="3200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973568" y="46451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7973568" y="5166360"/>
            <a:ext cx="2953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data security through password hashing and role-based access control (RBAC)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RT-Web · Rotaract Club of NIBM Kandy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Scrum Development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ran on iterative weekly sprints, each delivering a functional vertical slice — reducing risk early and allowing continuous stakeholder feedback.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1051560" cy="1051560"/>
          </a:xfrm>
          <a:prstGeom prst="ellipse">
            <a:avLst/>
          </a:prstGeom>
          <a:solidFill>
            <a:srgbClr val="4B00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788920"/>
            <a:ext cx="105156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600200" y="3232404"/>
            <a:ext cx="347472" cy="164592"/>
          </a:xfrm>
          <a:prstGeom prst="rightArrow">
            <a:avLst/>
          </a:prstGeom>
          <a:solidFill>
            <a:srgbClr val="C9BEE0"/>
          </a:solidFill>
          <a:ln/>
        </p:spPr>
      </p:sp>
      <p:sp>
        <p:nvSpPr>
          <p:cNvPr id="9" name="Shape 7"/>
          <p:cNvSpPr/>
          <p:nvPr/>
        </p:nvSpPr>
        <p:spPr>
          <a:xfrm>
            <a:off x="1984248" y="2788920"/>
            <a:ext cx="1051560" cy="1051560"/>
          </a:xfrm>
          <a:prstGeom prst="ellipse">
            <a:avLst/>
          </a:prstGeom>
          <a:solidFill>
            <a:srgbClr val="4B00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984248" y="2788920"/>
            <a:ext cx="105156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35808" y="3232404"/>
            <a:ext cx="347472" cy="164592"/>
          </a:xfrm>
          <a:prstGeom prst="rightArrow">
            <a:avLst/>
          </a:prstGeom>
          <a:solidFill>
            <a:srgbClr val="C9BEE0"/>
          </a:solidFill>
          <a:ln/>
        </p:spPr>
      </p:sp>
      <p:sp>
        <p:nvSpPr>
          <p:cNvPr id="12" name="Shape 10"/>
          <p:cNvSpPr/>
          <p:nvPr/>
        </p:nvSpPr>
        <p:spPr>
          <a:xfrm>
            <a:off x="3419856" y="2788920"/>
            <a:ext cx="1051560" cy="105156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19856" y="2788920"/>
            <a:ext cx="105156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(1–4 wks)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71416" y="3232404"/>
            <a:ext cx="347472" cy="164592"/>
          </a:xfrm>
          <a:prstGeom prst="rightArrow">
            <a:avLst/>
          </a:prstGeom>
          <a:solidFill>
            <a:srgbClr val="C9BEE0"/>
          </a:solidFill>
          <a:ln/>
        </p:spPr>
      </p:sp>
      <p:sp>
        <p:nvSpPr>
          <p:cNvPr id="15" name="Shape 13"/>
          <p:cNvSpPr/>
          <p:nvPr/>
        </p:nvSpPr>
        <p:spPr>
          <a:xfrm>
            <a:off x="4855464" y="2788920"/>
            <a:ext cx="1051560" cy="1051560"/>
          </a:xfrm>
          <a:prstGeom prst="ellipse">
            <a:avLst/>
          </a:prstGeom>
          <a:solidFill>
            <a:srgbClr val="4B00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55464" y="2788920"/>
            <a:ext cx="105156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64515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Forms surveys across the general membership, plus structured interviews with the Executive Board, ensured both administrative and member-experience needs were captured.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89320" y="1417320"/>
            <a:ext cx="18288" cy="4709160"/>
          </a:xfrm>
          <a:prstGeom prst="rect">
            <a:avLst/>
          </a:prstGeom>
          <a:solidFill>
            <a:srgbClr val="DED6F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63640" y="1463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Testing Strategy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63640" y="1920240"/>
            <a:ext cx="420624" cy="420624"/>
          </a:xfrm>
          <a:prstGeom prst="ellipse">
            <a:avLst/>
          </a:prstGeom>
          <a:solidFill>
            <a:srgbClr val="4B0082"/>
          </a:solidFill>
          <a:ln/>
        </p:spPr>
      </p:sp>
      <p:pic>
        <p:nvPicPr>
          <p:cNvPr id="22" name="Image 0" descr="/home/claude/pptx_build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8280" y="2014880"/>
            <a:ext cx="231343" cy="231343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6812280" y="18928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6812280" y="21579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controllers, hashing, pass-code generation, React state mutators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263640" y="2633472"/>
            <a:ext cx="420624" cy="420624"/>
          </a:xfrm>
          <a:prstGeom prst="ellipse">
            <a:avLst/>
          </a:prstGeom>
          <a:solidFill>
            <a:srgbClr val="4B0082"/>
          </a:solidFill>
          <a:ln/>
        </p:spPr>
      </p:sp>
      <p:pic>
        <p:nvPicPr>
          <p:cNvPr id="26" name="Image 1" descr="/home/claude/pptx_build/icons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280" y="2728112"/>
            <a:ext cx="231343" cy="231343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6812280" y="2606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6812280" y="28712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↔ API ↔ MySQL data flow, CORS and JSON serialization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6263640" y="3346704"/>
            <a:ext cx="420624" cy="420624"/>
          </a:xfrm>
          <a:prstGeom prst="ellipse">
            <a:avLst/>
          </a:prstGeom>
          <a:solidFill>
            <a:srgbClr val="4B0082"/>
          </a:solidFill>
          <a:ln/>
        </p:spPr>
      </p:sp>
      <p:pic>
        <p:nvPicPr>
          <p:cNvPr id="30" name="Image 2" descr="/home/claude/pptx_build/icons/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280" y="3441344"/>
            <a:ext cx="231343" cy="231343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6812280" y="33192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</a:t>
            </a:r>
            <a:endParaRPr lang="en-US" sz="1250" dirty="0"/>
          </a:p>
        </p:txBody>
      </p:sp>
      <p:sp>
        <p:nvSpPr>
          <p:cNvPr id="32" name="Text 27"/>
          <p:cNvSpPr txBox="1"/>
          <p:nvPr/>
        </p:nvSpPr>
        <p:spPr>
          <a:xfrm>
            <a:off x="6812280" y="3584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walkthrough with the Club President — full sign-off received</a:t>
            </a:r>
            <a:endParaRPr lang="en-US" sz="1050" dirty="0"/>
          </a:p>
        </p:txBody>
      </p:sp>
      <p:sp>
        <p:nvSpPr>
          <p:cNvPr id="33" name="Text 28"/>
          <p:cNvSpPr txBox="1"/>
          <p:nvPr/>
        </p:nvSpPr>
        <p:spPr>
          <a:xfrm>
            <a:off x="6263640" y="43434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— 12 Weeks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6263640" y="4754880"/>
            <a:ext cx="82296" cy="82296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6455664" y="46542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Content</a:t>
            </a:r>
            <a:endParaRPr lang="en-US" sz="1050" dirty="0"/>
          </a:p>
        </p:txBody>
      </p:sp>
      <p:sp>
        <p:nvSpPr>
          <p:cNvPr id="36" name="Text 31"/>
          <p:cNvSpPr txBox="1"/>
          <p:nvPr/>
        </p:nvSpPr>
        <p:spPr>
          <a:xfrm>
            <a:off x="9966960" y="46542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1–4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6263640" y="5047488"/>
            <a:ext cx="82296" cy="82296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6455664" y="49469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Approval</a:t>
            </a:r>
            <a:endParaRPr lang="en-US" sz="1050" dirty="0"/>
          </a:p>
        </p:txBody>
      </p:sp>
      <p:sp>
        <p:nvSpPr>
          <p:cNvPr id="39" name="Text 34"/>
          <p:cNvSpPr txBox="1"/>
          <p:nvPr/>
        </p:nvSpPr>
        <p:spPr>
          <a:xfrm>
            <a:off x="9966960" y="49469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5–6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6263640" y="5340096"/>
            <a:ext cx="82296" cy="82296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6455664" y="5239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9966960" y="52395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7–9</a:t>
            </a:r>
            <a:endParaRPr lang="en-US" sz="1050" dirty="0"/>
          </a:p>
        </p:txBody>
      </p:sp>
      <p:sp>
        <p:nvSpPr>
          <p:cNvPr id="43" name="Shape 38"/>
          <p:cNvSpPr/>
          <p:nvPr/>
        </p:nvSpPr>
        <p:spPr>
          <a:xfrm>
            <a:off x="6263640" y="5632704"/>
            <a:ext cx="82296" cy="82296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6455664" y="5532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Testing &amp; UAT</a:t>
            </a:r>
            <a:endParaRPr lang="en-US" sz="1050" dirty="0"/>
          </a:p>
        </p:txBody>
      </p:sp>
      <p:sp>
        <p:nvSpPr>
          <p:cNvPr id="45" name="Text 40"/>
          <p:cNvSpPr txBox="1"/>
          <p:nvPr/>
        </p:nvSpPr>
        <p:spPr>
          <a:xfrm>
            <a:off x="9966960" y="55321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10–11</a:t>
            </a:r>
            <a:endParaRPr lang="en-US" sz="1050" dirty="0"/>
          </a:p>
        </p:txBody>
      </p:sp>
      <p:sp>
        <p:nvSpPr>
          <p:cNvPr id="46" name="Shape 41"/>
          <p:cNvSpPr/>
          <p:nvPr/>
        </p:nvSpPr>
        <p:spPr>
          <a:xfrm>
            <a:off x="6263640" y="5925312"/>
            <a:ext cx="82296" cy="82296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6455664" y="58247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 &amp; Launch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9966960" y="58247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12</a:t>
            </a:r>
            <a:endParaRPr lang="en-US" sz="1050" dirty="0"/>
          </a:p>
        </p:txBody>
      </p:sp>
      <p:sp>
        <p:nvSpPr>
          <p:cNvPr id="49" name="Text 4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RT-Web · Rotaract Club of NIBM Kandy</a:t>
            </a:r>
            <a:endParaRPr lang="en-US" sz="900" dirty="0"/>
          </a:p>
        </p:txBody>
      </p:sp>
      <p:sp>
        <p:nvSpPr>
          <p:cNvPr id="50" name="Text 4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SOLUTION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five-folder, clean MVC architecture separating presentation, logic and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450592" cy="3108960"/>
          </a:xfrm>
          <a:prstGeom prst="roundRect">
            <a:avLst>
              <a:gd name="adj" fmla="val 3731"/>
            </a:avLst>
          </a:prstGeom>
          <a:solidFill>
            <a:srgbClr val="4B0082"/>
          </a:solidFill>
          <a:ln/>
        </p:spPr>
      </p:sp>
      <p:sp>
        <p:nvSpPr>
          <p:cNvPr id="6" name="Shape 4"/>
          <p:cNvSpPr/>
          <p:nvPr/>
        </p:nvSpPr>
        <p:spPr>
          <a:xfrm>
            <a:off x="1453896" y="2221992"/>
            <a:ext cx="640080" cy="64008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7" name="Image 0" descr="/home/claude/pptx_build/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5511" y="2343607"/>
            <a:ext cx="396850" cy="39685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01752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319272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SPA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3749040"/>
            <a:ext cx="1993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E9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App.jsx single-page UI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E9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services/api.js fetch layer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E9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017520" y="3410712"/>
            <a:ext cx="256032" cy="219456"/>
          </a:xfrm>
          <a:prstGeom prst="rightArrow">
            <a:avLst/>
          </a:prstGeom>
          <a:solidFill>
            <a:srgbClr val="FFC72C"/>
          </a:solidFill>
          <a:ln/>
        </p:spPr>
      </p:sp>
      <p:sp>
        <p:nvSpPr>
          <p:cNvPr id="12" name="Shape 9"/>
          <p:cNvSpPr/>
          <p:nvPr/>
        </p:nvSpPr>
        <p:spPr>
          <a:xfrm>
            <a:off x="3291840" y="1965960"/>
            <a:ext cx="2450592" cy="3108960"/>
          </a:xfrm>
          <a:prstGeom prst="roundRect">
            <a:avLst>
              <a:gd name="adj" fmla="val 3731"/>
            </a:avLst>
          </a:prstGeom>
          <a:solidFill>
            <a:srgbClr val="32005A"/>
          </a:solidFill>
          <a:ln/>
        </p:spPr>
      </p:sp>
      <p:sp>
        <p:nvSpPr>
          <p:cNvPr id="13" name="Shape 10"/>
          <p:cNvSpPr/>
          <p:nvPr/>
        </p:nvSpPr>
        <p:spPr>
          <a:xfrm>
            <a:off x="4197096" y="2221992"/>
            <a:ext cx="640080" cy="64008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4" name="Image 1" descr="/home/claude/pptx_build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711" y="2343607"/>
            <a:ext cx="396850" cy="39685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429000" y="301752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3429000" y="3319272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Routes &amp; Logic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3547872" y="3749040"/>
            <a:ext cx="1993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E9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routes/ → controllers/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E9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middleware/ (auth, errors)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E9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5000 REST API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760720" y="3410712"/>
            <a:ext cx="256032" cy="219456"/>
          </a:xfrm>
          <a:prstGeom prst="rightArrow">
            <a:avLst/>
          </a:prstGeom>
          <a:solidFill>
            <a:srgbClr val="FFC72C"/>
          </a:solidFill>
          <a:ln/>
        </p:spPr>
      </p:sp>
      <p:sp>
        <p:nvSpPr>
          <p:cNvPr id="19" name="Shape 15"/>
          <p:cNvSpPr/>
          <p:nvPr/>
        </p:nvSpPr>
        <p:spPr>
          <a:xfrm>
            <a:off x="6035040" y="1965960"/>
            <a:ext cx="2450592" cy="3108960"/>
          </a:xfrm>
          <a:prstGeom prst="roundRect">
            <a:avLst>
              <a:gd name="adj" fmla="val 3731"/>
            </a:avLst>
          </a:prstGeom>
          <a:solidFill>
            <a:srgbClr val="4B0082"/>
          </a:solidFill>
          <a:ln/>
        </p:spPr>
      </p:sp>
      <p:sp>
        <p:nvSpPr>
          <p:cNvPr id="20" name="Shape 16"/>
          <p:cNvSpPr/>
          <p:nvPr/>
        </p:nvSpPr>
        <p:spPr>
          <a:xfrm>
            <a:off x="6940296" y="2221992"/>
            <a:ext cx="640080" cy="64008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21" name="Image 2" descr="/home/claude/pptx_build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911" y="2343607"/>
            <a:ext cx="396850" cy="39685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172200" y="301752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6172200" y="3319272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Classes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6291072" y="3749040"/>
            <a:ext cx="1993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E9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· Event · Registration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E9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VolunteerLog · Project · Avenue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E9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SQL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8503920" y="3410712"/>
            <a:ext cx="256032" cy="219456"/>
          </a:xfrm>
          <a:prstGeom prst="rightArrow">
            <a:avLst/>
          </a:prstGeom>
          <a:solidFill>
            <a:srgbClr val="FFC72C"/>
          </a:solidFill>
          <a:ln/>
        </p:spPr>
      </p:sp>
      <p:sp>
        <p:nvSpPr>
          <p:cNvPr id="26" name="Shape 21"/>
          <p:cNvSpPr/>
          <p:nvPr/>
        </p:nvSpPr>
        <p:spPr>
          <a:xfrm>
            <a:off x="8778240" y="1965960"/>
            <a:ext cx="2450592" cy="3108960"/>
          </a:xfrm>
          <a:prstGeom prst="roundRect">
            <a:avLst>
              <a:gd name="adj" fmla="val 3731"/>
            </a:avLst>
          </a:prstGeom>
          <a:solidFill>
            <a:srgbClr val="32005A"/>
          </a:solidFill>
          <a:ln/>
        </p:spPr>
      </p:sp>
      <p:sp>
        <p:nvSpPr>
          <p:cNvPr id="27" name="Shape 22"/>
          <p:cNvSpPr/>
          <p:nvPr/>
        </p:nvSpPr>
        <p:spPr>
          <a:xfrm>
            <a:off x="9683496" y="2221992"/>
            <a:ext cx="640080" cy="64008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28" name="Image 3" descr="/home/claude/pptx_build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5111" y="2343607"/>
            <a:ext cx="396850" cy="39685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915400" y="301752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50" dirty="0"/>
          </a:p>
        </p:txBody>
      </p:sp>
      <p:sp>
        <p:nvSpPr>
          <p:cNvPr id="30" name="Text 24"/>
          <p:cNvSpPr txBox="1"/>
          <p:nvPr/>
        </p:nvSpPr>
        <p:spPr>
          <a:xfrm>
            <a:off x="8915400" y="3319272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9034272" y="3749040"/>
            <a:ext cx="1993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E9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mysql2 connection pool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E9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rotaract_nibm_db (3NF)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E9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relational tables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548640" y="53492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requests from the React client hit Express routers, which delegate to controllers; controllers call model methods that run SQL against the MySQL pool, and JSON flows back up the same path.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RT-Web · Rotaract Club of NIBM Kandy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SOLUTION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 was normalized to Third Normal Form (3NF) across seven related tables, minimizing redundancy while keeping common queries — like a member’s registration history — efficient.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947318" cy="329184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103120"/>
            <a:ext cx="9473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avenues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60550" y="2103120"/>
            <a:ext cx="786384" cy="329184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60550" y="210312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11526" y="2103120"/>
            <a:ext cx="866851" cy="329184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11526" y="2103120"/>
            <a:ext cx="8668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42970" y="2103120"/>
            <a:ext cx="1912925" cy="329184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42970" y="2103120"/>
            <a:ext cx="19129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event_registrations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20486" y="2103120"/>
            <a:ext cx="1510589" cy="329184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20486" y="2103120"/>
            <a:ext cx="15105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volunteer_logs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95667" y="2103120"/>
            <a:ext cx="1027786" cy="329184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95667" y="2103120"/>
            <a:ext cx="10277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88045" y="2103120"/>
            <a:ext cx="1751990" cy="329184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88045" y="2103120"/>
            <a:ext cx="17519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contact_inquiries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697480"/>
            <a:ext cx="1024128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BEE0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548640" y="39319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8CFEC"/>
                </a:solidFill>
              </a:rPr>
              <a:t>◇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4348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database design image here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(schema diagram / phpMyAdmin table view)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RT-Web · Rotaract Club of NIBM Kandy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UML Diagram — Use Cases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 (Manual)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1907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submit interest via Google Forms; the Executive Committee reconciles attendance, records and reports manually.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0292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9BEE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548640" y="3703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8CFEC"/>
                </a:solidFill>
              </a:rPr>
              <a:t>◇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206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Use Case Diagram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(Current System)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141732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(RT-Web)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171907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actors — Member, Admin (Executive Committee / Avenue Director), and Guest — interact with a single authoritative system.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2286000"/>
            <a:ext cx="566928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9BEE0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5943600" y="37033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8CFEC"/>
                </a:solidFill>
              </a:rPr>
              <a:t>◇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4206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Use Case Diagram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(Proposed System)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RT-Web · Rotaract Club of NIBM Kandy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Diagram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3977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generalized User class holds shared authentication attributes and specializes into Admin and Member. Event associates with Avenue and links to Members through EventRegistration and Attendance — keeping registration intent separate from confirmed participation.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classes: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577901" cy="310896"/>
          </a:xfrm>
          <a:prstGeom prst="roundRect">
            <a:avLst>
              <a:gd name="adj" fmla="val 50000"/>
            </a:avLst>
          </a:prstGeom>
          <a:solidFill>
            <a:srgbClr val="4B00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4114800"/>
            <a:ext cx="5779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54557" y="4114800"/>
            <a:ext cx="653796" cy="310896"/>
          </a:xfrm>
          <a:prstGeom prst="roundRect">
            <a:avLst>
              <a:gd name="adj" fmla="val 50000"/>
            </a:avLst>
          </a:prstGeom>
          <a:solidFill>
            <a:srgbClr val="4B00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54557" y="4114800"/>
            <a:ext cx="653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36369" y="4114800"/>
            <a:ext cx="729691" cy="310896"/>
          </a:xfrm>
          <a:prstGeom prst="roundRect">
            <a:avLst>
              <a:gd name="adj" fmla="val 50000"/>
            </a:avLst>
          </a:prstGeom>
          <a:solidFill>
            <a:srgbClr val="4B00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036369" y="4114800"/>
            <a:ext cx="7296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94076" y="4114800"/>
            <a:ext cx="729691" cy="310896"/>
          </a:xfrm>
          <a:prstGeom prst="roundRect">
            <a:avLst>
              <a:gd name="adj" fmla="val 50000"/>
            </a:avLst>
          </a:prstGeom>
          <a:solidFill>
            <a:srgbClr val="4B00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894076" y="4114800"/>
            <a:ext cx="7296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51783" y="4114800"/>
            <a:ext cx="653796" cy="310896"/>
          </a:xfrm>
          <a:prstGeom prst="roundRect">
            <a:avLst>
              <a:gd name="adj" fmla="val 50000"/>
            </a:avLst>
          </a:prstGeom>
          <a:solidFill>
            <a:srgbClr val="4B00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751783" y="4114800"/>
            <a:ext cx="653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498848"/>
            <a:ext cx="1564538" cy="310896"/>
          </a:xfrm>
          <a:prstGeom prst="roundRect">
            <a:avLst>
              <a:gd name="adj" fmla="val 50000"/>
            </a:avLst>
          </a:prstGeom>
          <a:solidFill>
            <a:srgbClr val="4B00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498848"/>
            <a:ext cx="15645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EventRegistration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41194" y="4498848"/>
            <a:ext cx="1033272" cy="310896"/>
          </a:xfrm>
          <a:prstGeom prst="roundRect">
            <a:avLst>
              <a:gd name="adj" fmla="val 50000"/>
            </a:avLst>
          </a:prstGeom>
          <a:solidFill>
            <a:srgbClr val="4B008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241194" y="4498848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882896"/>
            <a:ext cx="1336853" cy="310896"/>
          </a:xfrm>
          <a:prstGeom prst="roundRect">
            <a:avLst>
              <a:gd name="adj" fmla="val 50000"/>
            </a:avLst>
          </a:prstGeom>
          <a:solidFill>
            <a:srgbClr val="4B00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882896"/>
            <a:ext cx="133685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ServiceHourLog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1417320"/>
            <a:ext cx="6720840" cy="4617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BEE0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4892040" y="3268980"/>
            <a:ext cx="6720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8CFEC"/>
                </a:solidFill>
              </a:rPr>
              <a:t>◇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5166360" y="3771900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Class Diagram image here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RT-Web · Rotaract Club of NIBM Kandy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Diagrams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for Event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1907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→ UI → Controller → Database: capacity and duplicate checks run server-side before the registration is committed, preventing overbooking.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0292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BEE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548640" y="3749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8CFEC"/>
                </a:solidFill>
              </a:rPr>
              <a:t>◇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251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Sequence Diagram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(Register for Event)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141732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Member Profile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171907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→ UI → Controller → Database: input is validated before the users record is updated and the new profile is returned.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2377440"/>
            <a:ext cx="56692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BEE0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5943600" y="37490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8CFEC"/>
                </a:solidFill>
              </a:rPr>
              <a:t>◇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4251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Sequence Diagram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(Manage Member Profile)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RT-Web · Rotaract Club of NIBM Kandy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Relationship Diagram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3977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entities were identified: avenues, users, events, event_registrations, attendance, and service_hour_logs. The users table is shared between Admin and Member accounts, distinguished by a role column — keeping authentication logic in one place. Foreign keys enforce that every event belongs to one avenue, every registration/attendance refers to one event and one member, and every service-hour log traces back to a specific attendance record.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892040" y="1417320"/>
            <a:ext cx="6720840" cy="4617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BEE0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4892040" y="3268980"/>
            <a:ext cx="6720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8CFEC"/>
                </a:solidFill>
              </a:rPr>
              <a:t>◇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166360" y="3771900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ER Diagram image here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RT-Web · Rotaract Club of NIBM Kandy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Diagram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top-level view of RT-Web as a single process, showing the external entities that exchange data with it: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319272" cy="960120"/>
          </a:xfrm>
          <a:prstGeom prst="roundRect">
            <a:avLst>
              <a:gd name="adj" fmla="val 7619"/>
            </a:avLst>
          </a:prstGeom>
          <a:solidFill>
            <a:srgbClr val="F5F3FF"/>
          </a:solidFill>
          <a:ln w="12700">
            <a:solidFill>
              <a:srgbClr val="4B00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993392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/ Public Visitor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59152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Browses the public showcase — Home, About, Events, Projects, Gallery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25980" y="2898648"/>
            <a:ext cx="164592" cy="201168"/>
          </a:xfrm>
          <a:prstGeom prst="downArrow">
            <a:avLst/>
          </a:prstGeom>
          <a:solidFill>
            <a:srgbClr val="C9BEE0"/>
          </a:solidFill>
          <a:ln/>
        </p:spPr>
      </p:sp>
      <p:sp>
        <p:nvSpPr>
          <p:cNvPr id="9" name="Shape 7"/>
          <p:cNvSpPr/>
          <p:nvPr/>
        </p:nvSpPr>
        <p:spPr>
          <a:xfrm>
            <a:off x="4050792" y="1920240"/>
            <a:ext cx="3319272" cy="960120"/>
          </a:xfrm>
          <a:prstGeom prst="roundRect">
            <a:avLst>
              <a:gd name="adj" fmla="val 7619"/>
            </a:avLst>
          </a:prstGeom>
          <a:solidFill>
            <a:srgbClr val="F5F3FF"/>
          </a:solidFill>
          <a:ln w="12700">
            <a:solidFill>
              <a:srgbClr val="4B008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15384" y="1993392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215384" y="2359152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for events, logs volunteer hours, manages profile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28132" y="2898648"/>
            <a:ext cx="164592" cy="201168"/>
          </a:xfrm>
          <a:prstGeom prst="downArrow">
            <a:avLst/>
          </a:prstGeom>
          <a:solidFill>
            <a:srgbClr val="C9BEE0"/>
          </a:solidFill>
          <a:ln/>
        </p:spPr>
      </p:sp>
      <p:sp>
        <p:nvSpPr>
          <p:cNvPr id="13" name="Shape 11"/>
          <p:cNvSpPr/>
          <p:nvPr/>
        </p:nvSpPr>
        <p:spPr>
          <a:xfrm>
            <a:off x="7552944" y="1920240"/>
            <a:ext cx="3319272" cy="960120"/>
          </a:xfrm>
          <a:prstGeom prst="roundRect">
            <a:avLst>
              <a:gd name="adj" fmla="val 7619"/>
            </a:avLst>
          </a:prstGeom>
          <a:solidFill>
            <a:srgbClr val="F5F3FF"/>
          </a:solidFill>
          <a:ln w="12700">
            <a:solidFill>
              <a:srgbClr val="4B008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17536" y="1993392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Executive Committee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717536" y="2359152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members, avenues, events and generates reports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30284" y="2898648"/>
            <a:ext cx="164592" cy="201168"/>
          </a:xfrm>
          <a:prstGeom prst="downArrow">
            <a:avLst/>
          </a:prstGeom>
          <a:solidFill>
            <a:srgbClr val="C9BEE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RT-Web · Rotaract Club of NIBM Kandy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1024128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BEE0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548640" y="41833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8CFEC"/>
                </a:solidFill>
              </a:rPr>
              <a:t>◇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6863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Context Diagram image here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Level-1 Data Flow Diagram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RT-Web process decomposes into five core sub-processes: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956816" cy="960120"/>
          </a:xfrm>
          <a:prstGeom prst="ellipse">
            <a:avLst/>
          </a:prstGeom>
          <a:solidFill>
            <a:srgbClr val="4B00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Manage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&amp; Auth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38044" y="1965960"/>
            <a:ext cx="1956816" cy="960120"/>
          </a:xfrm>
          <a:prstGeom prst="ellipse">
            <a:avLst/>
          </a:prstGeom>
          <a:solidFill>
            <a:srgbClr val="32005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29484" y="1965960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Manage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Avenues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27448" y="1965960"/>
            <a:ext cx="1956816" cy="960120"/>
          </a:xfrm>
          <a:prstGeom prst="ellipse">
            <a:avLst/>
          </a:prstGeom>
          <a:solidFill>
            <a:srgbClr val="4B00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18888" y="1965960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Handle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 &amp; Check-in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16852" y="1965960"/>
            <a:ext cx="1956816" cy="960120"/>
          </a:xfrm>
          <a:prstGeom prst="ellipse">
            <a:avLst/>
          </a:prstGeom>
          <a:solidFill>
            <a:srgbClr val="32005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08292" y="1965960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Track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Hours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06256" y="1965960"/>
            <a:ext cx="1956816" cy="960120"/>
          </a:xfrm>
          <a:prstGeom prst="ellipse">
            <a:avLst/>
          </a:prstGeom>
          <a:solidFill>
            <a:srgbClr val="4B00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97696" y="1965960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 Generate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1024128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BEE0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548640" y="41833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8CFEC"/>
                </a:solidFill>
              </a:rPr>
              <a:t>◇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6863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Level-1 DFD image here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RT-Web · Rotaract Club of NIBM Kandy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Web System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355848" cy="2057400"/>
          </a:xfrm>
          <a:prstGeom prst="roundRect">
            <a:avLst>
              <a:gd name="adj" fmla="val 4444"/>
            </a:avLst>
          </a:prstGeom>
          <a:solidFill>
            <a:srgbClr val="F5F3FF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916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4B00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27248" y="1691640"/>
            <a:ext cx="502920" cy="502920"/>
          </a:xfrm>
          <a:prstGeom prst="ellipse">
            <a:avLst/>
          </a:prstGeom>
          <a:solidFill>
            <a:srgbClr val="4B0082"/>
          </a:solidFill>
          <a:ln/>
        </p:spPr>
      </p:sp>
      <p:pic>
        <p:nvPicPr>
          <p:cNvPr id="8" name="Image 0" descr="/home/claude/pptx_build/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0405" y="1804797"/>
            <a:ext cx="276606" cy="27660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49808" y="2167128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478024"/>
            <a:ext cx="2953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explore the public site — Home, About, Events, Projects, Gallery, Leadership, Contact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3931920" y="2464308"/>
            <a:ext cx="201168" cy="146304"/>
          </a:xfrm>
          <a:prstGeom prst="rightArrow">
            <a:avLst/>
          </a:prstGeom>
          <a:solidFill>
            <a:srgbClr val="C9BEE0"/>
          </a:solidFill>
          <a:ln/>
        </p:spPr>
      </p:sp>
      <p:sp>
        <p:nvSpPr>
          <p:cNvPr id="12" name="Shape 9"/>
          <p:cNvSpPr/>
          <p:nvPr/>
        </p:nvSpPr>
        <p:spPr>
          <a:xfrm>
            <a:off x="4160520" y="1508760"/>
            <a:ext cx="3355848" cy="2057400"/>
          </a:xfrm>
          <a:prstGeom prst="roundRect">
            <a:avLst>
              <a:gd name="adj" fmla="val 4444"/>
            </a:avLst>
          </a:prstGeom>
          <a:solidFill>
            <a:srgbClr val="F5F3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361688" y="16916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4B008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361688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739128" y="1691640"/>
            <a:ext cx="502920" cy="502920"/>
          </a:xfrm>
          <a:prstGeom prst="ellipse">
            <a:avLst/>
          </a:prstGeom>
          <a:solidFill>
            <a:srgbClr val="4B0082"/>
          </a:solidFill>
          <a:ln/>
        </p:spPr>
      </p:sp>
      <p:pic>
        <p:nvPicPr>
          <p:cNvPr id="16" name="Image 1" descr="/home/claude/pptx_build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2285" y="1804797"/>
            <a:ext cx="276606" cy="27660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361688" y="2167128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 In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4361688" y="2478024"/>
            <a:ext cx="2953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create an account or sign in to the Member Portal</a:t>
            </a:r>
            <a:endParaRPr lang="en-US" sz="1080" dirty="0"/>
          </a:p>
        </p:txBody>
      </p:sp>
      <p:sp>
        <p:nvSpPr>
          <p:cNvPr id="19" name="Shape 15"/>
          <p:cNvSpPr/>
          <p:nvPr/>
        </p:nvSpPr>
        <p:spPr>
          <a:xfrm>
            <a:off x="7543800" y="2464308"/>
            <a:ext cx="201168" cy="146304"/>
          </a:xfrm>
          <a:prstGeom prst="rightArrow">
            <a:avLst/>
          </a:prstGeom>
          <a:solidFill>
            <a:srgbClr val="C9BEE0"/>
          </a:solidFill>
          <a:ln/>
        </p:spPr>
      </p:sp>
      <p:sp>
        <p:nvSpPr>
          <p:cNvPr id="20" name="Shape 16"/>
          <p:cNvSpPr/>
          <p:nvPr/>
        </p:nvSpPr>
        <p:spPr>
          <a:xfrm>
            <a:off x="7772400" y="1508760"/>
            <a:ext cx="3355848" cy="2057400"/>
          </a:xfrm>
          <a:prstGeom prst="roundRect">
            <a:avLst>
              <a:gd name="adj" fmla="val 4444"/>
            </a:avLst>
          </a:prstGeom>
          <a:solidFill>
            <a:srgbClr val="F5F3FF"/>
          </a:solidFill>
          <a:ln/>
        </p:spPr>
      </p:sp>
      <p:sp>
        <p:nvSpPr>
          <p:cNvPr id="21" name="Shape 17"/>
          <p:cNvSpPr/>
          <p:nvPr/>
        </p:nvSpPr>
        <p:spPr>
          <a:xfrm>
            <a:off x="7973568" y="16916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4B0082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973568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10351008" y="1691640"/>
            <a:ext cx="502920" cy="502920"/>
          </a:xfrm>
          <a:prstGeom prst="ellipse">
            <a:avLst/>
          </a:prstGeom>
          <a:solidFill>
            <a:srgbClr val="4B0082"/>
          </a:solidFill>
          <a:ln/>
        </p:spPr>
      </p:sp>
      <p:pic>
        <p:nvPicPr>
          <p:cNvPr id="24" name="Image 2" descr="/home/claude/pptx_build/icons/calen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165" y="1804797"/>
            <a:ext cx="276606" cy="27660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973568" y="2167128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for Event</a:t>
            </a:r>
            <a:endParaRPr lang="en-US" sz="1350" dirty="0"/>
          </a:p>
        </p:txBody>
      </p:sp>
      <p:sp>
        <p:nvSpPr>
          <p:cNvPr id="26" name="Text 21"/>
          <p:cNvSpPr txBox="1"/>
          <p:nvPr/>
        </p:nvSpPr>
        <p:spPr>
          <a:xfrm>
            <a:off x="7973568" y="2478024"/>
            <a:ext cx="2953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checks capacity &amp; duplicates, then confirms the seat in real time</a:t>
            </a:r>
            <a:endParaRPr lang="en-US" sz="1080" dirty="0"/>
          </a:p>
        </p:txBody>
      </p:sp>
      <p:sp>
        <p:nvSpPr>
          <p:cNvPr id="27" name="Shape 22"/>
          <p:cNvSpPr/>
          <p:nvPr/>
        </p:nvSpPr>
        <p:spPr>
          <a:xfrm>
            <a:off x="548640" y="3822192"/>
            <a:ext cx="3355848" cy="2057400"/>
          </a:xfrm>
          <a:prstGeom prst="roundRect">
            <a:avLst>
              <a:gd name="adj" fmla="val 4444"/>
            </a:avLst>
          </a:prstGeom>
          <a:solidFill>
            <a:srgbClr val="F5F3FF"/>
          </a:solidFill>
          <a:ln/>
        </p:spPr>
      </p:sp>
      <p:sp>
        <p:nvSpPr>
          <p:cNvPr id="28" name="Shape 23"/>
          <p:cNvSpPr/>
          <p:nvPr/>
        </p:nvSpPr>
        <p:spPr>
          <a:xfrm>
            <a:off x="749808" y="400507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4B0082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4005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3127248" y="4005072"/>
            <a:ext cx="502920" cy="502920"/>
          </a:xfrm>
          <a:prstGeom prst="ellipse">
            <a:avLst/>
          </a:prstGeom>
          <a:solidFill>
            <a:srgbClr val="4B0082"/>
          </a:solidFill>
          <a:ln/>
        </p:spPr>
      </p:sp>
      <p:pic>
        <p:nvPicPr>
          <p:cNvPr id="31" name="Image 3" descr="/home/claude/pptx_build/icons/qr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0405" y="4118229"/>
            <a:ext cx="276606" cy="276606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749808" y="448056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Digital Pass</a:t>
            </a:r>
            <a:endParaRPr lang="en-US" sz="1350" dirty="0"/>
          </a:p>
        </p:txBody>
      </p:sp>
      <p:sp>
        <p:nvSpPr>
          <p:cNvPr id="33" name="Text 27"/>
          <p:cNvSpPr txBox="1"/>
          <p:nvPr/>
        </p:nvSpPr>
        <p:spPr>
          <a:xfrm>
            <a:off x="749808" y="4791456"/>
            <a:ext cx="2953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pass code and QR matrix are issued instantly</a:t>
            </a:r>
            <a:endParaRPr lang="en-US" sz="1080" dirty="0"/>
          </a:p>
        </p:txBody>
      </p:sp>
      <p:sp>
        <p:nvSpPr>
          <p:cNvPr id="34" name="Shape 28"/>
          <p:cNvSpPr/>
          <p:nvPr/>
        </p:nvSpPr>
        <p:spPr>
          <a:xfrm>
            <a:off x="3931920" y="4777740"/>
            <a:ext cx="201168" cy="146304"/>
          </a:xfrm>
          <a:prstGeom prst="rightArrow">
            <a:avLst/>
          </a:prstGeom>
          <a:solidFill>
            <a:srgbClr val="C9BEE0"/>
          </a:solidFill>
          <a:ln/>
        </p:spPr>
      </p:sp>
      <p:sp>
        <p:nvSpPr>
          <p:cNvPr id="35" name="Shape 29"/>
          <p:cNvSpPr/>
          <p:nvPr/>
        </p:nvSpPr>
        <p:spPr>
          <a:xfrm>
            <a:off x="4160520" y="3822192"/>
            <a:ext cx="3355848" cy="2057400"/>
          </a:xfrm>
          <a:prstGeom prst="roundRect">
            <a:avLst>
              <a:gd name="adj" fmla="val 4444"/>
            </a:avLst>
          </a:prstGeom>
          <a:solidFill>
            <a:srgbClr val="F5F3FF"/>
          </a:solidFill>
          <a:ln/>
        </p:spPr>
      </p:sp>
      <p:sp>
        <p:nvSpPr>
          <p:cNvPr id="36" name="Shape 30"/>
          <p:cNvSpPr/>
          <p:nvPr/>
        </p:nvSpPr>
        <p:spPr>
          <a:xfrm>
            <a:off x="4361688" y="400507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4B0082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4361688" y="4005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6739128" y="4005072"/>
            <a:ext cx="502920" cy="502920"/>
          </a:xfrm>
          <a:prstGeom prst="ellipse">
            <a:avLst/>
          </a:prstGeom>
          <a:solidFill>
            <a:srgbClr val="4B0082"/>
          </a:solidFill>
          <a:ln/>
        </p:spPr>
      </p:sp>
      <p:pic>
        <p:nvPicPr>
          <p:cNvPr id="39" name="Image 4" descr="/home/claude/pptx_build/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2285" y="4118229"/>
            <a:ext cx="276606" cy="276606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4361688" y="448056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Check-In</a:t>
            </a:r>
            <a:endParaRPr lang="en-US" sz="1350" dirty="0"/>
          </a:p>
        </p:txBody>
      </p:sp>
      <p:sp>
        <p:nvSpPr>
          <p:cNvPr id="41" name="Text 34"/>
          <p:cNvSpPr txBox="1"/>
          <p:nvPr/>
        </p:nvSpPr>
        <p:spPr>
          <a:xfrm>
            <a:off x="4361688" y="4791456"/>
            <a:ext cx="2953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Marshals scan the pass; status flips to Checked-In with a duplicate-entry guard</a:t>
            </a:r>
            <a:endParaRPr lang="en-US" sz="1080" dirty="0"/>
          </a:p>
        </p:txBody>
      </p:sp>
      <p:sp>
        <p:nvSpPr>
          <p:cNvPr id="42" name="Shape 35"/>
          <p:cNvSpPr/>
          <p:nvPr/>
        </p:nvSpPr>
        <p:spPr>
          <a:xfrm>
            <a:off x="7543800" y="4777740"/>
            <a:ext cx="201168" cy="146304"/>
          </a:xfrm>
          <a:prstGeom prst="rightArrow">
            <a:avLst/>
          </a:prstGeom>
          <a:solidFill>
            <a:srgbClr val="C9BEE0"/>
          </a:solidFill>
          <a:ln/>
        </p:spPr>
      </p:sp>
      <p:sp>
        <p:nvSpPr>
          <p:cNvPr id="43" name="Shape 36"/>
          <p:cNvSpPr/>
          <p:nvPr/>
        </p:nvSpPr>
        <p:spPr>
          <a:xfrm>
            <a:off x="7772400" y="3822192"/>
            <a:ext cx="3355848" cy="2057400"/>
          </a:xfrm>
          <a:prstGeom prst="roundRect">
            <a:avLst>
              <a:gd name="adj" fmla="val 4444"/>
            </a:avLst>
          </a:prstGeom>
          <a:solidFill>
            <a:srgbClr val="F5F3FF"/>
          </a:solidFill>
          <a:ln/>
        </p:spPr>
      </p:sp>
      <p:sp>
        <p:nvSpPr>
          <p:cNvPr id="44" name="Shape 37"/>
          <p:cNvSpPr/>
          <p:nvPr/>
        </p:nvSpPr>
        <p:spPr>
          <a:xfrm>
            <a:off x="7973568" y="400507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4B0082"/>
          </a:solidFill>
          <a:ln/>
        </p:spPr>
      </p:sp>
      <p:sp>
        <p:nvSpPr>
          <p:cNvPr id="45" name="Text 38"/>
          <p:cNvSpPr txBox="1"/>
          <p:nvPr/>
        </p:nvSpPr>
        <p:spPr>
          <a:xfrm>
            <a:off x="7973568" y="4005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10351008" y="4005072"/>
            <a:ext cx="502920" cy="502920"/>
          </a:xfrm>
          <a:prstGeom prst="ellipse">
            <a:avLst/>
          </a:prstGeom>
          <a:solidFill>
            <a:srgbClr val="4B0082"/>
          </a:solidFill>
          <a:ln/>
        </p:spPr>
      </p:sp>
      <p:pic>
        <p:nvPicPr>
          <p:cNvPr id="47" name="Image 5" descr="/home/claude/pptx_build/icons/awar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4165" y="4118229"/>
            <a:ext cx="276606" cy="276606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7973568" y="448056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&amp; Verify Hours</a:t>
            </a:r>
            <a:endParaRPr lang="en-US" sz="1350" dirty="0"/>
          </a:p>
        </p:txBody>
      </p:sp>
      <p:sp>
        <p:nvSpPr>
          <p:cNvPr id="49" name="Text 41"/>
          <p:cNvSpPr txBox="1"/>
          <p:nvPr/>
        </p:nvSpPr>
        <p:spPr>
          <a:xfrm>
            <a:off x="7973568" y="4791456"/>
            <a:ext cx="2953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submit volunteer hours; Directors approve them for citation credit</a:t>
            </a:r>
            <a:endParaRPr lang="en-US" sz="1080" dirty="0"/>
          </a:p>
        </p:txBody>
      </p:sp>
      <p:sp>
        <p:nvSpPr>
          <p:cNvPr id="50" name="Text 42"/>
          <p:cNvSpPr txBox="1"/>
          <p:nvPr/>
        </p:nvSpPr>
        <p:spPr>
          <a:xfrm>
            <a:off x="54864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scenes: React (View) → REST API → Express Controllers → Models → MySQL, and the JSON response flows straight back to update the UI.</a:t>
            </a:r>
            <a:endParaRPr lang="en-US" sz="1100" dirty="0"/>
          </a:p>
        </p:txBody>
      </p:sp>
      <p:sp>
        <p:nvSpPr>
          <p:cNvPr id="51" name="Text 4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RT-Web · Rotaract Club of NIBM Kandy</a:t>
            </a:r>
            <a:endParaRPr lang="en-US" sz="900" dirty="0"/>
          </a:p>
        </p:txBody>
      </p:sp>
      <p:sp>
        <p:nvSpPr>
          <p:cNvPr id="52" name="Text 4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1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DEVELOPMENT TOOLS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487168" cy="1691640"/>
          </a:xfrm>
          <a:prstGeom prst="roundRect">
            <a:avLst>
              <a:gd name="adj" fmla="val 5405"/>
            </a:avLst>
          </a:prstGeom>
          <a:solidFill>
            <a:srgbClr val="32005A"/>
          </a:solidFill>
          <a:ln/>
        </p:spPr>
      </p:sp>
      <p:sp>
        <p:nvSpPr>
          <p:cNvPr id="5" name="Shape 3"/>
          <p:cNvSpPr/>
          <p:nvPr/>
        </p:nvSpPr>
        <p:spPr>
          <a:xfrm>
            <a:off x="1481328" y="1773936"/>
            <a:ext cx="621792" cy="621792"/>
          </a:xfrm>
          <a:prstGeom prst="ellipse">
            <a:avLst/>
          </a:prstGeom>
          <a:solidFill>
            <a:srgbClr val="4B0082"/>
          </a:solidFill>
          <a:ln/>
        </p:spPr>
      </p:sp>
      <p:pic>
        <p:nvPicPr>
          <p:cNvPr id="6" name="Image 0" descr="/home/claude/pptx_build/icons/re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686" y="1898294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51460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81635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1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v18.2.0 — UI &amp; state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91840" y="1554480"/>
            <a:ext cx="2487168" cy="1691640"/>
          </a:xfrm>
          <a:prstGeom prst="roundRect">
            <a:avLst>
              <a:gd name="adj" fmla="val 5405"/>
            </a:avLst>
          </a:prstGeom>
          <a:solidFill>
            <a:srgbClr val="32005A"/>
          </a:solidFill>
          <a:ln/>
        </p:spPr>
      </p:sp>
      <p:sp>
        <p:nvSpPr>
          <p:cNvPr id="10" name="Shape 7"/>
          <p:cNvSpPr/>
          <p:nvPr/>
        </p:nvSpPr>
        <p:spPr>
          <a:xfrm>
            <a:off x="4224528" y="1773936"/>
            <a:ext cx="621792" cy="621792"/>
          </a:xfrm>
          <a:prstGeom prst="ellipse">
            <a:avLst/>
          </a:prstGeom>
          <a:solidFill>
            <a:srgbClr val="4B0082"/>
          </a:solidFill>
          <a:ln/>
        </p:spPr>
      </p:sp>
      <p:pic>
        <p:nvPicPr>
          <p:cNvPr id="11" name="Image 1" descr="/home/claude/pptx_build/icons/tailwi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886" y="1898294"/>
            <a:ext cx="373075" cy="37307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383280" y="251460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383280" y="281635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1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v3.3.0 — styling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35040" y="1554480"/>
            <a:ext cx="2487168" cy="1691640"/>
          </a:xfrm>
          <a:prstGeom prst="roundRect">
            <a:avLst>
              <a:gd name="adj" fmla="val 5405"/>
            </a:avLst>
          </a:prstGeom>
          <a:solidFill>
            <a:srgbClr val="32005A"/>
          </a:solidFill>
          <a:ln/>
        </p:spPr>
      </p:sp>
      <p:sp>
        <p:nvSpPr>
          <p:cNvPr id="15" name="Shape 11"/>
          <p:cNvSpPr/>
          <p:nvPr/>
        </p:nvSpPr>
        <p:spPr>
          <a:xfrm>
            <a:off x="6967728" y="1773936"/>
            <a:ext cx="621792" cy="621792"/>
          </a:xfrm>
          <a:prstGeom prst="ellipse">
            <a:avLst/>
          </a:prstGeom>
          <a:solidFill>
            <a:srgbClr val="4B0082"/>
          </a:solidFill>
          <a:ln/>
        </p:spPr>
      </p:sp>
      <p:pic>
        <p:nvPicPr>
          <p:cNvPr id="16" name="Image 2" descr="/home/claude/pptx_build/icons/nodej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086" y="1898294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126480" y="251460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126480" y="281635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1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v20.x — runtime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778240" y="1554480"/>
            <a:ext cx="2487168" cy="1691640"/>
          </a:xfrm>
          <a:prstGeom prst="roundRect">
            <a:avLst>
              <a:gd name="adj" fmla="val 5405"/>
            </a:avLst>
          </a:prstGeom>
          <a:solidFill>
            <a:srgbClr val="32005A"/>
          </a:solidFill>
          <a:ln/>
        </p:spPr>
      </p:sp>
      <p:sp>
        <p:nvSpPr>
          <p:cNvPr id="20" name="Shape 15"/>
          <p:cNvSpPr/>
          <p:nvPr/>
        </p:nvSpPr>
        <p:spPr>
          <a:xfrm>
            <a:off x="9710928" y="1773936"/>
            <a:ext cx="621792" cy="621792"/>
          </a:xfrm>
          <a:prstGeom prst="ellipse">
            <a:avLst/>
          </a:prstGeom>
          <a:solidFill>
            <a:srgbClr val="4B0082"/>
          </a:solidFill>
          <a:ln/>
        </p:spPr>
      </p:sp>
      <p:pic>
        <p:nvPicPr>
          <p:cNvPr id="21" name="Image 3" descr="/home/claude/pptx_build/icons/expre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5286" y="1898294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869680" y="251460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8869680" y="281635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1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— REST API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3502152"/>
            <a:ext cx="2487168" cy="1691640"/>
          </a:xfrm>
          <a:prstGeom prst="roundRect">
            <a:avLst>
              <a:gd name="adj" fmla="val 5405"/>
            </a:avLst>
          </a:prstGeom>
          <a:solidFill>
            <a:srgbClr val="32005A"/>
          </a:solidFill>
          <a:ln/>
        </p:spPr>
      </p:sp>
      <p:sp>
        <p:nvSpPr>
          <p:cNvPr id="25" name="Shape 19"/>
          <p:cNvSpPr/>
          <p:nvPr/>
        </p:nvSpPr>
        <p:spPr>
          <a:xfrm>
            <a:off x="1481328" y="3721608"/>
            <a:ext cx="621792" cy="621792"/>
          </a:xfrm>
          <a:prstGeom prst="ellipse">
            <a:avLst/>
          </a:prstGeom>
          <a:solidFill>
            <a:srgbClr val="4B0082"/>
          </a:solidFill>
          <a:ln/>
        </p:spPr>
      </p:sp>
      <p:pic>
        <p:nvPicPr>
          <p:cNvPr id="26" name="Image 4" descr="/home/claude/pptx_build/icons/mysq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5686" y="3845966"/>
            <a:ext cx="373075" cy="37307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40080" y="446227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640080" y="4764024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1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 — relational DB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291840" y="3502152"/>
            <a:ext cx="2487168" cy="1691640"/>
          </a:xfrm>
          <a:prstGeom prst="roundRect">
            <a:avLst>
              <a:gd name="adj" fmla="val 5405"/>
            </a:avLst>
          </a:prstGeom>
          <a:solidFill>
            <a:srgbClr val="32005A"/>
          </a:solidFill>
          <a:ln/>
        </p:spPr>
      </p:sp>
      <p:sp>
        <p:nvSpPr>
          <p:cNvPr id="30" name="Shape 23"/>
          <p:cNvSpPr/>
          <p:nvPr/>
        </p:nvSpPr>
        <p:spPr>
          <a:xfrm>
            <a:off x="4224528" y="3721608"/>
            <a:ext cx="621792" cy="621792"/>
          </a:xfrm>
          <a:prstGeom prst="ellipse">
            <a:avLst/>
          </a:prstGeom>
          <a:solidFill>
            <a:srgbClr val="4B0082"/>
          </a:solidFill>
          <a:ln/>
        </p:spPr>
      </p:sp>
      <p:pic>
        <p:nvPicPr>
          <p:cNvPr id="31" name="Image 5" descr="/home/claude/pptx_build/icons/vsco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8886" y="3845966"/>
            <a:ext cx="373075" cy="37307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383280" y="446227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3383280" y="4764024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1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+ ESLint/Prettier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035040" y="3502152"/>
            <a:ext cx="2487168" cy="1691640"/>
          </a:xfrm>
          <a:prstGeom prst="roundRect">
            <a:avLst>
              <a:gd name="adj" fmla="val 5405"/>
            </a:avLst>
          </a:prstGeom>
          <a:solidFill>
            <a:srgbClr val="32005A"/>
          </a:solidFill>
          <a:ln/>
        </p:spPr>
      </p:sp>
      <p:sp>
        <p:nvSpPr>
          <p:cNvPr id="35" name="Shape 27"/>
          <p:cNvSpPr/>
          <p:nvPr/>
        </p:nvSpPr>
        <p:spPr>
          <a:xfrm>
            <a:off x="6967728" y="3721608"/>
            <a:ext cx="621792" cy="621792"/>
          </a:xfrm>
          <a:prstGeom prst="ellipse">
            <a:avLst/>
          </a:prstGeom>
          <a:solidFill>
            <a:srgbClr val="4B0082"/>
          </a:solidFill>
          <a:ln/>
        </p:spPr>
      </p:sp>
      <p:pic>
        <p:nvPicPr>
          <p:cNvPr id="36" name="Image 6" descr="/home/claude/pptx_build/icons/gi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2086" y="3845966"/>
            <a:ext cx="373075" cy="373075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126480" y="446227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6126480" y="4764024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1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8778240" y="3502152"/>
            <a:ext cx="2487168" cy="1691640"/>
          </a:xfrm>
          <a:prstGeom prst="roundRect">
            <a:avLst>
              <a:gd name="adj" fmla="val 5405"/>
            </a:avLst>
          </a:prstGeom>
          <a:solidFill>
            <a:srgbClr val="32005A"/>
          </a:solidFill>
          <a:ln/>
        </p:spPr>
      </p:sp>
      <p:sp>
        <p:nvSpPr>
          <p:cNvPr id="40" name="Shape 31"/>
          <p:cNvSpPr/>
          <p:nvPr/>
        </p:nvSpPr>
        <p:spPr>
          <a:xfrm>
            <a:off x="9710928" y="3721608"/>
            <a:ext cx="621792" cy="621792"/>
          </a:xfrm>
          <a:prstGeom prst="ellipse">
            <a:avLst/>
          </a:prstGeom>
          <a:solidFill>
            <a:srgbClr val="4B0082"/>
          </a:solidFill>
          <a:ln/>
        </p:spPr>
      </p:sp>
      <p:pic>
        <p:nvPicPr>
          <p:cNvPr id="41" name="Image 7" descr="/home/claude/pptx_build/icons/githu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35286" y="3845966"/>
            <a:ext cx="373075" cy="373075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8869680" y="446227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43" name="Text 33"/>
          <p:cNvSpPr txBox="1"/>
          <p:nvPr/>
        </p:nvSpPr>
        <p:spPr>
          <a:xfrm>
            <a:off x="8869680" y="4764024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1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repository</a:t>
            </a:r>
            <a:endParaRPr lang="en-US" sz="950" dirty="0"/>
          </a:p>
        </p:txBody>
      </p:sp>
      <p:sp>
        <p:nvSpPr>
          <p:cNvPr id="44" name="Text 34"/>
          <p:cNvSpPr txBox="1"/>
          <p:nvPr/>
        </p:nvSpPr>
        <p:spPr>
          <a:xfrm>
            <a:off x="54864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C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SHA-256 password hashing · Role-based access control (Admin / Director / Member / Guest) · CORS-protected REST API</a:t>
            </a:r>
            <a:endParaRPr lang="en-US" sz="1100" dirty="0"/>
          </a:p>
        </p:txBody>
      </p:sp>
      <p:sp>
        <p:nvSpPr>
          <p:cNvPr id="45" name="Text 3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RT-Web · Rotaract Club of NIBM Kandy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7" name="Text 3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RT-Web · Rotaract Club of NIBM Kandy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DATABASE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— Schema Detail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02412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7955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0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00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B0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avenues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categories (Community, Club, International, Professional Dev.), each with a director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B0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Admin/Member accounts — hashed password, role, contact &amp; index number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B0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details, avenue link, capacity and live registered_count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B0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event_registrations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Registrant details, unique pass code, check-in status &amp; timestamp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B0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volunteer_logs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Submitted service hours with Pending/Approved/Rejected verification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B0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Flagship initiatives per avenue with impact summary and funds raised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B0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contact_inquiries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Messages submitted through the public contact 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532120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F5F3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5641848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B0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55321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Tables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023360" y="5532120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F5F3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251960" y="5641848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B0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5257800" y="55321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Schema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98080" y="5532120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F5F3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26680" y="5641848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B0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FK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55321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Enforced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RT-Web · Rotaract Club of NIBM Kandy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TESTING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331720" cy="4709160"/>
          </a:xfrm>
          <a:prstGeom prst="roundRect">
            <a:avLst>
              <a:gd name="adj" fmla="val 4706"/>
            </a:avLst>
          </a:prstGeom>
          <a:solidFill>
            <a:srgbClr val="4B00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286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9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08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51206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D8C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with formal UAT sign-off from the Club President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0" y="1463040"/>
          <a:ext cx="85496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989320"/>
                <a:gridCol w="1645920"/>
              </a:tblGrid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0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Tested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0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008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B0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 &amp; Login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8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B0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Email Validation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8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B0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Registration &amp; Quota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8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B0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Pass &amp; QR Generation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8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B0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Pass Verification / Check-In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8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B0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Volunteer Hours Logging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8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B0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Volunteer Hours Approval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8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B0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 &amp; Volunteer Audit Reports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8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B0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MySQL Persistence (XAMPP)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8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RT-Web · Rotaract Club of NIBM Kandy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4709160"/>
          </a:xfrm>
          <a:prstGeom prst="roundRect">
            <a:avLst>
              <a:gd name="adj" fmla="val 1942"/>
            </a:avLst>
          </a:prstGeom>
          <a:solidFill>
            <a:srgbClr val="F5F3F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4B0082"/>
          </a:solidFill>
          <a:ln/>
        </p:spPr>
      </p:sp>
      <p:pic>
        <p:nvPicPr>
          <p:cNvPr id="6" name="Image 0" descr="/home/claude/pptx_build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117" y="1850517"/>
            <a:ext cx="276606" cy="27660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105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423160"/>
            <a:ext cx="4480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integrated online payment gateway — event fees are still verified manually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offline Progressive Web App (PWA) caching — an active connection is required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SMS/email dispatch yet — passes rely on on-screen/printable QR codes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must be manually confirmed by an Avenue Director before hours are credited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97880" y="1463040"/>
            <a:ext cx="5742432" cy="4709160"/>
          </a:xfrm>
          <a:prstGeom prst="roundRect">
            <a:avLst>
              <a:gd name="adj" fmla="val 1942"/>
            </a:avLst>
          </a:prstGeom>
          <a:solidFill>
            <a:srgbClr val="4B0082"/>
          </a:solidFill>
          <a:ln/>
        </p:spPr>
      </p:sp>
      <p:sp>
        <p:nvSpPr>
          <p:cNvPr id="10" name="Shape 7"/>
          <p:cNvSpPr/>
          <p:nvPr/>
        </p:nvSpPr>
        <p:spPr>
          <a:xfrm>
            <a:off x="6172200" y="1737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pptx_build/icons/rocket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5357" y="185051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12280" y="18105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Enhancements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217920" y="2423160"/>
            <a:ext cx="5212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Rotary International API integration — auto-sync District 3220 citation statistics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payment gateway (e.g. PayHere/Stripe) for fundraising and ticket sales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companion app (React Native/Flutter) with push notifications and offline QR scanning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email/SMS dispatch via Nodemailer/SendGrid and Twilio/Dialog Ideamart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RT-Web · Rotaract Club of NIBM Kandy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286000"/>
            <a:ext cx="5486400" cy="5486400"/>
          </a:xfrm>
          <a:prstGeom prst="ellipse">
            <a:avLst/>
          </a:prstGeom>
          <a:solidFill>
            <a:srgbClr val="3200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1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CONCLUSION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B1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RT-Web replaces fragmented spreadsheets and manual processes with a single, secure platform — giving the club continuity across annual leadership transitions.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32005A"/>
          </a:solidFill>
          <a:ln/>
        </p:spPr>
      </p:sp>
      <p:sp>
        <p:nvSpPr>
          <p:cNvPr id="7" name="Shape 5"/>
          <p:cNvSpPr/>
          <p:nvPr/>
        </p:nvSpPr>
        <p:spPr>
          <a:xfrm>
            <a:off x="1298448" y="2386584"/>
            <a:ext cx="512064" cy="512064"/>
          </a:xfrm>
          <a:prstGeom prst="ellipse">
            <a:avLst/>
          </a:prstGeom>
          <a:solidFill>
            <a:srgbClr val="4B0082"/>
          </a:solidFill>
          <a:ln/>
        </p:spPr>
      </p:sp>
      <p:pic>
        <p:nvPicPr>
          <p:cNvPr id="8" name="Image 0" descr="/home/claude/pptx_build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5981" y="2494117"/>
            <a:ext cx="296997" cy="29699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30632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 Architecture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94944" y="3721608"/>
            <a:ext cx="17190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E9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normalized MySQL schema preserves complete historical records across leadership changes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2779776" y="214884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32005A"/>
          </a:solidFill>
          <a:ln/>
        </p:spPr>
      </p:sp>
      <p:sp>
        <p:nvSpPr>
          <p:cNvPr id="12" name="Shape 9"/>
          <p:cNvSpPr/>
          <p:nvPr/>
        </p:nvSpPr>
        <p:spPr>
          <a:xfrm>
            <a:off x="3529584" y="2386584"/>
            <a:ext cx="512064" cy="512064"/>
          </a:xfrm>
          <a:prstGeom prst="ellipse">
            <a:avLst/>
          </a:prstGeom>
          <a:solidFill>
            <a:srgbClr val="4B0082"/>
          </a:solidFill>
          <a:ln/>
        </p:spPr>
      </p:sp>
      <p:pic>
        <p:nvPicPr>
          <p:cNvPr id="13" name="Image 1" descr="/home/claude/pptx_build/icons/qr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117" y="2494117"/>
            <a:ext cx="296997" cy="29699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916936" y="30632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Pass Issuance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2926080" y="3721608"/>
            <a:ext cx="17190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E9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QR-coded passes prevent duplicate entries and speed up gate check-ins</a:t>
            </a:r>
            <a:endParaRPr lang="en-US" sz="930" dirty="0"/>
          </a:p>
        </p:txBody>
      </p:sp>
      <p:sp>
        <p:nvSpPr>
          <p:cNvPr id="16" name="Shape 12"/>
          <p:cNvSpPr/>
          <p:nvPr/>
        </p:nvSpPr>
        <p:spPr>
          <a:xfrm>
            <a:off x="5010912" y="214884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32005A"/>
          </a:solidFill>
          <a:ln/>
        </p:spPr>
      </p:sp>
      <p:sp>
        <p:nvSpPr>
          <p:cNvPr id="17" name="Shape 13"/>
          <p:cNvSpPr/>
          <p:nvPr/>
        </p:nvSpPr>
        <p:spPr>
          <a:xfrm>
            <a:off x="5760720" y="2386584"/>
            <a:ext cx="512064" cy="512064"/>
          </a:xfrm>
          <a:prstGeom prst="ellipse">
            <a:avLst/>
          </a:prstGeom>
          <a:solidFill>
            <a:srgbClr val="4B0082"/>
          </a:solidFill>
          <a:ln/>
        </p:spPr>
      </p:sp>
      <p:pic>
        <p:nvPicPr>
          <p:cNvPr id="18" name="Image 2" descr="/home/claude/pptx_build/icons/aw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253" y="2494117"/>
            <a:ext cx="296997" cy="29699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148072" y="30632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Hour Accounting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5157216" y="3721608"/>
            <a:ext cx="17190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E9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self-service logbook speeds up District 3220 presidential citation verification</a:t>
            </a:r>
            <a:endParaRPr lang="en-US" sz="930" dirty="0"/>
          </a:p>
        </p:txBody>
      </p:sp>
      <p:sp>
        <p:nvSpPr>
          <p:cNvPr id="21" name="Shape 16"/>
          <p:cNvSpPr/>
          <p:nvPr/>
        </p:nvSpPr>
        <p:spPr>
          <a:xfrm>
            <a:off x="7242048" y="214884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32005A"/>
          </a:solidFill>
          <a:ln/>
        </p:spPr>
      </p:sp>
      <p:sp>
        <p:nvSpPr>
          <p:cNvPr id="22" name="Shape 17"/>
          <p:cNvSpPr/>
          <p:nvPr/>
        </p:nvSpPr>
        <p:spPr>
          <a:xfrm>
            <a:off x="7991856" y="2386584"/>
            <a:ext cx="512064" cy="512064"/>
          </a:xfrm>
          <a:prstGeom prst="ellipse">
            <a:avLst/>
          </a:prstGeom>
          <a:solidFill>
            <a:srgbClr val="4B0082"/>
          </a:solidFill>
          <a:ln/>
        </p:spPr>
      </p:sp>
      <p:pic>
        <p:nvPicPr>
          <p:cNvPr id="23" name="Image 3" descr="/home/claude/pptx_build/icons/megapho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9389" y="2494117"/>
            <a:ext cx="296997" cy="29699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379208" y="30632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High-Impact Public Showcase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7388352" y="3721608"/>
            <a:ext cx="17190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E9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responsive, animated interface highlights avenues, leadership and project impact</a:t>
            </a:r>
            <a:endParaRPr lang="en-US" sz="930" dirty="0"/>
          </a:p>
        </p:txBody>
      </p:sp>
      <p:sp>
        <p:nvSpPr>
          <p:cNvPr id="26" name="Shape 20"/>
          <p:cNvSpPr/>
          <p:nvPr/>
        </p:nvSpPr>
        <p:spPr>
          <a:xfrm>
            <a:off x="9473184" y="214884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32005A"/>
          </a:solidFill>
          <a:ln/>
        </p:spPr>
      </p:sp>
      <p:sp>
        <p:nvSpPr>
          <p:cNvPr id="27" name="Shape 21"/>
          <p:cNvSpPr/>
          <p:nvPr/>
        </p:nvSpPr>
        <p:spPr>
          <a:xfrm>
            <a:off x="10222992" y="2386584"/>
            <a:ext cx="512064" cy="512064"/>
          </a:xfrm>
          <a:prstGeom prst="ellipse">
            <a:avLst/>
          </a:prstGeom>
          <a:solidFill>
            <a:srgbClr val="4B0082"/>
          </a:solidFill>
          <a:ln/>
        </p:spPr>
      </p:sp>
      <p:pic>
        <p:nvPicPr>
          <p:cNvPr id="28" name="Image 4" descr="/home/claude/pptx_build/icons/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0525" y="2494117"/>
            <a:ext cx="296997" cy="29699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610344" y="30632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MVC Implementation</a:t>
            </a:r>
            <a:endParaRPr lang="en-US" sz="1150" dirty="0"/>
          </a:p>
        </p:txBody>
      </p:sp>
      <p:sp>
        <p:nvSpPr>
          <p:cNvPr id="30" name="Text 23"/>
          <p:cNvSpPr txBox="1"/>
          <p:nvPr/>
        </p:nvSpPr>
        <p:spPr>
          <a:xfrm>
            <a:off x="9619488" y="3721608"/>
            <a:ext cx="17190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E9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Express.js + React 18 architecture keeps the codebase modular and scalable</a:t>
            </a:r>
            <a:endParaRPr lang="en-US" sz="930" dirty="0"/>
          </a:p>
        </p:txBody>
      </p:sp>
      <p:sp>
        <p:nvSpPr>
          <p:cNvPr id="31" name="Text 24"/>
          <p:cNvSpPr txBox="1"/>
          <p:nvPr/>
        </p:nvSpPr>
        <p:spPr>
          <a:xfrm>
            <a:off x="1097280" y="57150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B1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modest, well-scoped web application that meaningfully resolves the administrative continuity challenges of a student-run service organization.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RT-Web · Rotaract Club of NIBM Kandy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RT-Web · Rotaract Club of NIBM Kandy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200400"/>
            <a:ext cx="5486400" cy="5486400"/>
          </a:xfrm>
          <a:prstGeom prst="ellipse">
            <a:avLst/>
          </a:prstGeom>
          <a:solidFill>
            <a:srgbClr val="320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2743200"/>
            <a:ext cx="4572000" cy="4572000"/>
          </a:xfrm>
          <a:prstGeom prst="ellipse">
            <a:avLst/>
          </a:prstGeom>
          <a:solidFill>
            <a:srgbClr val="32005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65176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5272888" y="3611880"/>
            <a:ext cx="1645920" cy="3657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0" y="37947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1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0" y="61264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Rotaract Club of NIBM Kandy  ·  RT-Web Management System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2026-09-09T22:00:20Z</dcterms:created>
  <dcterms:modified xsi:type="dcterms:W3CDTF">2026-09-09T22:00:20Z</dcterms:modified>
</cp:coreProperties>
</file>